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11312" y="0"/>
            <a:ext cx="3977639" cy="6858000"/>
          </a:xfrm>
          <a:prstGeom prst="rect">
            <a:avLst/>
          </a:prstGeom>
          <a:solidFill>
            <a:srgbClr val="23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11312" y="530352"/>
            <a:ext cx="0" cy="5824728"/>
          </a:xfrm>
          <a:prstGeom prst="line">
            <a:avLst/>
          </a:prstGeom>
          <a:ln w="12700">
            <a:solidFill>
              <a:srgbClr val="C9A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21792"/>
            <a:ext cx="4023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C9A96B"/>
                </a:solidFill>
                <a:latin typeface="Trebuchet MS"/>
              </a:rPr>
              <a:t>MACHINE LEARNING  /  PROJECT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704088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900" b="1" i="0">
                <a:solidFill>
                  <a:srgbClr val="F5F0E7"/>
                </a:solidFill>
                <a:latin typeface="Georgia"/>
              </a:rPr>
              <a:t>Customer
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724912"/>
            <a:ext cx="53035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1">
                <a:solidFill>
                  <a:srgbClr val="71958D"/>
                </a:solidFill>
                <a:latin typeface="Trebuchet MS"/>
              </a:rPr>
              <a:t>using Machine Learning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" y="3355848"/>
            <a:ext cx="4041648" cy="0"/>
          </a:xfrm>
          <a:prstGeom prst="line">
            <a:avLst/>
          </a:prstGeom>
          <a:ln w="16510">
            <a:solidFill>
              <a:srgbClr val="C9A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6656" y="3584448"/>
            <a:ext cx="53949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 i="0">
                <a:solidFill>
                  <a:srgbClr val="F5F0E7"/>
                </a:solidFill>
                <a:latin typeface="Trebuchet MS"/>
              </a:rPr>
              <a:t>Understanding customer behavior
through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727448"/>
            <a:ext cx="58064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EB7A9"/>
                </a:solidFill>
                <a:latin typeface="Trebuchet MS"/>
              </a:rPr>
              <a:t>I analyzed credit-card usage patterns, built customer segments, and tested whether those labels could be reproduced by supervised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925312"/>
            <a:ext cx="3108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C9A96B"/>
                </a:solidFill>
                <a:latin typeface="Trebuchet MS"/>
              </a:rPr>
              <a:t>MOSTAFA MOHAMED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6199632"/>
            <a:ext cx="52120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 i="0">
                <a:solidFill>
                  <a:srgbClr val="BEB7A9"/>
                </a:solidFill>
                <a:latin typeface="Trebuchet MS"/>
              </a:rPr>
              <a:t>Customer behavior  ·  Clustering  ·  Classification</a:t>
            </a:r>
          </a:p>
        </p:txBody>
      </p:sp>
      <p:pic>
        <p:nvPicPr>
          <p:cNvPr id="13" name="Picture 12" descr="1000477987_1788421412809.jpg"/>
          <p:cNvPicPr>
            <a:picLocks noChangeAspect="1"/>
          </p:cNvPicPr>
          <p:nvPr/>
        </p:nvPicPr>
        <p:blipFill>
          <a:blip ns2:embed="rId2"/>
          <a:srcRect l="16448" r="16448"/>
          <a:stretch>
            <a:fillRect/>
          </a:stretch>
        </p:blipFill>
        <p:spPr>
          <a:xfrm>
            <a:off x="8613648" y="566928"/>
            <a:ext cx="2926080" cy="544982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613648" y="566928"/>
            <a:ext cx="2926080" cy="5449824"/>
          </a:xfrm>
          <a:prstGeom prst="rect">
            <a:avLst/>
          </a:prstGeom>
          <a:solidFill>
            <a:srgbClr val="000000"/>
          </a:solidFill>
          <a:ln w="8890">
            <a:solidFill>
              <a:srgbClr val="C9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6153912"/>
            <a:ext cx="2880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C9A96B"/>
                </a:solidFill>
                <a:latin typeface="Trebuchet MS"/>
              </a:rPr>
              <a:t>CC GENERAL.csv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56248"/>
            <a:ext cx="51206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BEB7A9"/>
                </a:solidFill>
                <a:latin typeface="Trebuchet MS"/>
              </a:rPr>
              <a:t>MOSTAFA MOHAMED  /  MACHINE LEARNING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1967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BEB7A9"/>
                </a:solidFill>
                <a:latin typeface="Trebuchet MS"/>
              </a:rPr>
              <a:t>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C9A96B"/>
                </a:solidFill>
                <a:latin typeface="Trebuchet MS"/>
              </a:rPr>
              <a:t>01  /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0E7"/>
                </a:solidFill>
                <a:latin typeface="Georgia"/>
              </a:rPr>
              <a:t>Understanding the Customer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10896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EB7A9"/>
                </a:solidFill>
                <a:latin typeface="Trebuchet MS"/>
              </a:rPr>
              <a:t>02 / 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188720"/>
            <a:ext cx="11128248" cy="0"/>
          </a:xfrm>
          <a:prstGeom prst="line">
            <a:avLst/>
          </a:prstGeom>
          <a:ln w="8890">
            <a:solidFill>
              <a:srgbClr val="3D4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1435608"/>
            <a:ext cx="48920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F5F0E7"/>
                </a:solidFill>
                <a:latin typeface="Trebuchet MS"/>
              </a:rPr>
              <a:t>Each row is one credit-card customer. The 17 usable variables capture balances, purchases, cash advances, payments, credit limits, transaction frequency, and account tenure.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40864"/>
            <a:ext cx="4892040" cy="749808"/>
          </a:xfrm>
          <a:prstGeom prst="roundRect">
            <a:avLst/>
          </a:prstGeom>
          <a:solidFill>
            <a:srgbClr val="232628"/>
          </a:solidFill>
          <a:ln w="8890">
            <a:solidFill>
              <a:srgbClr val="3B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505456"/>
            <a:ext cx="123444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C9A96B"/>
                </a:solidFill>
                <a:latin typeface="Trebuchet MS"/>
              </a:rPr>
              <a:t>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1" y="2459736"/>
            <a:ext cx="3337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5F0E7"/>
                </a:solidFill>
                <a:latin typeface="Trebuchet MS"/>
              </a:rPr>
              <a:t>median imputation  →  standardization  →  CUST_ID removed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566160"/>
            <a:ext cx="126187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C9A96B"/>
                </a:solidFill>
                <a:latin typeface="Georgia"/>
              </a:rPr>
              <a:t>8,950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005072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 i="0">
                <a:solidFill>
                  <a:srgbClr val="BEB7A9"/>
                </a:solidFill>
                <a:latin typeface="Trebuchet MS"/>
              </a:rP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3566160"/>
            <a:ext cx="137160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C9A96B"/>
                </a:solidFill>
                <a:latin typeface="Georgia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1" y="4005072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 i="0">
                <a:solidFill>
                  <a:srgbClr val="BEB7A9"/>
                </a:solidFill>
                <a:latin typeface="Trebuchet MS"/>
              </a:rPr>
              <a:t>COLUMNS IN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566160"/>
            <a:ext cx="141732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C9A96B"/>
                </a:solidFill>
                <a:latin typeface="Georgia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4005072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1" i="0">
                <a:solidFill>
                  <a:srgbClr val="BEB7A9"/>
                </a:solidFill>
                <a:latin typeface="Trebuchet MS"/>
              </a:rPr>
              <a:t>MODEL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663440"/>
            <a:ext cx="4800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BEB7A9"/>
                </a:solidFill>
                <a:latin typeface="Trebuchet MS"/>
              </a:rPr>
              <a:t>Missingness is concentrated in MINIMUM_PAYMENTS (313) plus one CREDIT_LIMIT value — 314 cells in total.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486400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C9A96B"/>
                </a:solidFill>
                <a:latin typeface="Georgia"/>
              </a:rPr>
              <a:t>What the raw data says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760720"/>
            <a:ext cx="48006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F5F0E7"/>
                </a:solidFill>
                <a:latin typeface="Trebuchet MS"/>
              </a:rPr>
              <a:t>Monetary variables are long-tailed: median purchases are $361, while the mean is $1,003. The chart uses log1p only to make that spread readable.</a:t>
            </a:r>
          </a:p>
        </p:txBody>
      </p:sp>
      <p:pic>
        <p:nvPicPr>
          <p:cNvPr id="20" name="Picture 19" descr="exploration_distributions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715000" y="1481328"/>
            <a:ext cx="5897880" cy="186537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0" y="3730752"/>
            <a:ext cx="5897880" cy="1810512"/>
          </a:xfrm>
          <a:prstGeom prst="roundRect">
            <a:avLst/>
          </a:prstGeom>
          <a:solidFill>
            <a:srgbClr val="232628"/>
          </a:solidFill>
          <a:ln w="8890">
            <a:solidFill>
              <a:srgbClr val="3B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98464" y="3986784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C9A96B"/>
                </a:solidFill>
                <a:latin typeface="Trebuchet MS"/>
              </a:rPr>
              <a:t>FEATURE GROUPS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4261104"/>
            <a:ext cx="512064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 i="0">
                <a:solidFill>
                  <a:srgbClr val="F5F0E7"/>
                </a:solidFill>
                <a:latin typeface="Trebuchet MS"/>
              </a:rPr>
              <a:t>spending  ·  cash access  ·  payments  ·  credit capacity  ·  frequency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4736592"/>
            <a:ext cx="51206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BEB7A9"/>
                </a:solidFill>
                <a:latin typeface="Trebuchet MS"/>
              </a:rPr>
              <a:t>The segmentation model uses numeric behavior only; the customer identifier is never treated as a signal.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56248"/>
            <a:ext cx="51206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BEB7A9"/>
                </a:solidFill>
                <a:latin typeface="Trebuchet MS"/>
              </a:rPr>
              <a:t>MOSTAFA MOHAMED  /  MACHINE LEARNING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1967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BEB7A9"/>
                </a:solidFill>
                <a:latin typeface="Trebuchet MS"/>
              </a:rPr>
              <a:t>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C9A96B"/>
                </a:solidFill>
                <a:latin typeface="Trebuchet MS"/>
              </a:rPr>
              <a:t>02  /  UNSUPERVISED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0E7"/>
                </a:solidFill>
                <a:latin typeface="Georgia"/>
              </a:rPr>
              <a:t>Customer Segmentation with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10896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EB7A9"/>
                </a:solidFill>
                <a:latin typeface="Trebuchet MS"/>
              </a:rPr>
              <a:t>03 / 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188720"/>
            <a:ext cx="11128248" cy="0"/>
          </a:xfrm>
          <a:prstGeom prst="line">
            <a:avLst/>
          </a:prstGeom>
          <a:ln w="8890">
            <a:solidFill>
              <a:srgbClr val="3D4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6072" y="1389888"/>
            <a:ext cx="5120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0E7"/>
                </a:solidFill>
                <a:latin typeface="Georgia"/>
              </a:rPr>
              <a:t>The evidence points to three usable segments.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55648"/>
            <a:ext cx="498348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 i="0">
                <a:solidFill>
                  <a:srgbClr val="BEB7A9"/>
                </a:solidFill>
                <a:latin typeface="Trebuchet MS"/>
              </a:rPr>
              <a:t>The elbow bends at k = 3, and the silhouette score is highest there (0.238 on a 2,000-customer sample). I kept the simpler three-cluster solution rather than adding small, less stable groups.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487168"/>
            <a:ext cx="4892040" cy="667512"/>
          </a:xfrm>
          <a:prstGeom prst="roundRect">
            <a:avLst/>
          </a:prstGeom>
          <a:solidFill>
            <a:srgbClr val="C9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60904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51719"/>
                </a:solidFill>
                <a:latin typeface="Georgia"/>
              </a:rPr>
              <a:t>SELECTED K  ·  3 CLUSTERS</a:t>
            </a:r>
          </a:p>
        </p:txBody>
      </p:sp>
      <p:pic>
        <p:nvPicPr>
          <p:cNvPr id="11" name="Picture 10" descr="cluster_selection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66928" y="3401568"/>
            <a:ext cx="5138928" cy="1572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5120640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 i="1">
                <a:solidFill>
                  <a:srgbClr val="BEB7A9"/>
                </a:solidFill>
                <a:latin typeface="Trebuchet MS"/>
              </a:rPr>
              <a:t>PCA is used here as a visual summary, not as the clustering input.</a:t>
            </a:r>
          </a:p>
        </p:txBody>
      </p:sp>
      <p:pic>
        <p:nvPicPr>
          <p:cNvPr id="13" name="Picture 12" descr="pca_clusters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5715000" y="1435608"/>
            <a:ext cx="5925312" cy="37673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806440" y="5413248"/>
            <a:ext cx="5715000" cy="530352"/>
          </a:xfrm>
          <a:prstGeom prst="roundRect">
            <a:avLst/>
          </a:prstGeom>
          <a:solidFill>
            <a:srgbClr val="232628"/>
          </a:solidFill>
          <a:ln w="8890">
            <a:solidFill>
              <a:srgbClr val="3B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5577840"/>
            <a:ext cx="52852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40" b="0" i="0">
                <a:solidFill>
                  <a:srgbClr val="F5F0E7"/>
                </a:solidFill>
                <a:latin typeface="Trebuchet MS"/>
              </a:rPr>
              <a:t>68.4% lower-activity  ·  13.8% purchase-active  ·  17.8% cash-advance dominant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56248"/>
            <a:ext cx="51206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BEB7A9"/>
                </a:solidFill>
                <a:latin typeface="Trebuchet MS"/>
              </a:rPr>
              <a:t>MOSTAFA MOHAMED  /  MACHINE LEARNING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1967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BEB7A9"/>
                </a:solidFill>
                <a:latin typeface="Trebuchet MS"/>
              </a:rPr>
              <a:t>3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C9A96B"/>
                </a:solidFill>
                <a:latin typeface="Trebuchet MS"/>
              </a:rPr>
              <a:t>03  / 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0E7"/>
                </a:solidFill>
                <a:latin typeface="Georgia"/>
              </a:rPr>
              <a:t>Customer Segments &amp;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10896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EB7A9"/>
                </a:solidFill>
                <a:latin typeface="Trebuchet MS"/>
              </a:rPr>
              <a:t>04 / 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188720"/>
            <a:ext cx="11128248" cy="0"/>
          </a:xfrm>
          <a:prstGeom prst="line">
            <a:avLst/>
          </a:prstGeom>
          <a:ln w="8890">
            <a:solidFill>
              <a:srgbClr val="3D4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6072" y="1371600"/>
            <a:ext cx="32004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0E7"/>
                </a:solidFill>
                <a:latin typeface="Georgia"/>
              </a:rPr>
              <a:t>Three behavioral profiles</a:t>
            </a:r>
          </a:p>
        </p:txBody>
      </p:sp>
      <p:pic>
        <p:nvPicPr>
          <p:cNvPr id="8" name="Picture 7" descr="cluster_profiles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48640" y="1764792"/>
            <a:ext cx="5715000" cy="196596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40080" y="4069080"/>
            <a:ext cx="128016" cy="128016"/>
          </a:xfrm>
          <a:prstGeom prst="ellipse">
            <a:avLst/>
          </a:prstGeom>
          <a:solidFill>
            <a:srgbClr val="C9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00507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F5F0E7"/>
                </a:solidFill>
                <a:latin typeface="Trebuchet MS"/>
              </a:rPr>
              <a:t>0  /  Lower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005072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BEB7A9"/>
                </a:solidFill>
                <a:latin typeface="Trebuchet MS"/>
              </a:rPr>
              <a:t>avg purchases $506  ·  avg balance $800  ·  68.4% of customers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71416"/>
            <a:ext cx="128016" cy="128016"/>
          </a:xfrm>
          <a:prstGeom prst="ellipse">
            <a:avLst/>
          </a:prstGeom>
          <a:solidFill>
            <a:srgbClr val="719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407408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F5F0E7"/>
                </a:solidFill>
                <a:latin typeface="Trebuchet MS"/>
              </a:rPr>
              <a:t>1  /  Purchase-active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407408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BEB7A9"/>
                </a:solidFill>
                <a:latin typeface="Trebuchet MS"/>
              </a:rPr>
              <a:t>avg purchases $4,269  ·  56 transactions  ·  avg credit $7,734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873752"/>
            <a:ext cx="128016" cy="128016"/>
          </a:xfrm>
          <a:prstGeom prst="ellipse">
            <a:avLst/>
          </a:prstGeom>
          <a:solidFill>
            <a:srgbClr val="B7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809744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F5F0E7"/>
                </a:solidFill>
                <a:latin typeface="Trebuchet MS"/>
              </a:rPr>
              <a:t>2  /  Balance + cash advance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809744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BEB7A9"/>
                </a:solidFill>
                <a:latin typeface="Trebuchet MS"/>
              </a:rPr>
              <a:t>avg cash advance $3,866  ·  avg balance $3,989  ·  low purchase 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371600"/>
            <a:ext cx="32004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F0E7"/>
                </a:solidFill>
                <a:latin typeface="Georgia"/>
              </a:rPr>
              <a:t>Supervised 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1764792"/>
            <a:ext cx="5074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BEB7A9"/>
                </a:solidFill>
                <a:latin typeface="Trebuchet MS"/>
              </a:rPr>
              <a:t>I reused the cluster labels as targets, then compared three classifiers on a stratified 20% hold-out set.</a:t>
            </a:r>
          </a:p>
        </p:txBody>
      </p:sp>
      <p:pic>
        <p:nvPicPr>
          <p:cNvPr id="20" name="Picture 19" descr="model_compariso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6327648" y="2359152"/>
            <a:ext cx="5193792" cy="240487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355080" y="5001768"/>
            <a:ext cx="5047488" cy="694944"/>
          </a:xfrm>
          <a:prstGeom prst="roundRect">
            <a:avLst/>
          </a:prstGeom>
          <a:solidFill>
            <a:srgbClr val="C9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175504"/>
            <a:ext cx="4526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151719"/>
                </a:solidFill>
                <a:latin typeface="Trebuchet MS"/>
              </a:rPr>
              <a:t>BEST MODEL  ·  LOGISTIC REGRESSION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22392"/>
            <a:ext cx="4526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151719"/>
                </a:solidFill>
                <a:latin typeface="Trebuchet MS"/>
              </a:rPr>
              <a:t>GridSearchCV selected C = 10  →  99.78% test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879592"/>
            <a:ext cx="504748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10" b="0" i="1">
                <a:solidFill>
                  <a:srgbClr val="F5F0E7"/>
                </a:solidFill>
                <a:latin typeface="Trebuchet MS"/>
              </a:rPr>
              <a:t>The high score means the classifier can reproduce these assigned labels; it is not, by itself, proof that the original clusters are meaningful.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56248"/>
            <a:ext cx="51206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BEB7A9"/>
                </a:solidFill>
                <a:latin typeface="Trebuchet MS"/>
              </a:rPr>
              <a:t>MOSTAFA MOHAMED  /  MACHINE LEARNING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1967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BEB7A9"/>
                </a:solidFill>
                <a:latin typeface="Trebuchet MS"/>
              </a:rPr>
              <a:t>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C9A96B"/>
                </a:solidFill>
                <a:latin typeface="Trebuchet MS"/>
              </a:rPr>
              <a:t>04  /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F0E7"/>
                </a:solidFill>
                <a:latin typeface="Georgia"/>
              </a:rPr>
              <a:t>Results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10896"/>
            <a:ext cx="685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BEB7A9"/>
                </a:solidFill>
                <a:latin typeface="Trebuchet MS"/>
              </a:rPr>
              <a:t>05 / 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188720"/>
            <a:ext cx="11128248" cy="0"/>
          </a:xfrm>
          <a:prstGeom prst="line">
            <a:avLst/>
          </a:prstGeom>
          <a:ln w="8890">
            <a:solidFill>
              <a:srgbClr val="3D4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1417320"/>
            <a:ext cx="5303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5F0E7"/>
                </a:solidFill>
                <a:latin typeface="Georgia"/>
              </a:rPr>
              <a:t>What I learned from the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3474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9A96B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11680"/>
            <a:ext cx="5532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 i="0">
                <a:solidFill>
                  <a:srgbClr val="F5F0E7"/>
                </a:solidFill>
                <a:latin typeface="Trebuchet MS"/>
              </a:rPr>
              <a:t>The customer base is not uniform: a large lower-activity group sits alongside smaller, clearly different usage profiles.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474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9A96B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24912"/>
            <a:ext cx="5532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 i="0">
                <a:solidFill>
                  <a:srgbClr val="F5F0E7"/>
                </a:solidFill>
                <a:latin typeface="Trebuchet MS"/>
              </a:rPr>
              <a:t>Purchase-active customers combine high purchase frequency, transaction count, credit limits, and payments.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56432"/>
            <a:ext cx="3474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9A96B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38144"/>
            <a:ext cx="5532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 i="0">
                <a:solidFill>
                  <a:srgbClr val="F5F0E7"/>
                </a:solidFill>
                <a:latin typeface="Trebuchet MS"/>
              </a:rPr>
              <a:t>The cash-advance group stands out through high balances and cash advances but low purchase activity and full-payment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9664"/>
            <a:ext cx="3474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9A96B"/>
                </a:solidFill>
                <a:latin typeface="Georg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151376"/>
            <a:ext cx="5532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 i="0">
                <a:solidFill>
                  <a:srgbClr val="F5F0E7"/>
                </a:solidFill>
                <a:latin typeface="Trebuchet MS"/>
              </a:rPr>
              <a:t>Logistic Regression was the strongest classifier here, but cluster quality still needs unsupervised evidence such as silhouette and PCA separation.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5157216"/>
            <a:ext cx="6446520" cy="713232"/>
          </a:xfrm>
          <a:prstGeom prst="roundRect">
            <a:avLst/>
          </a:prstGeom>
          <a:solidFill>
            <a:srgbClr val="232628"/>
          </a:solidFill>
          <a:ln w="8890">
            <a:solidFill>
              <a:srgbClr val="3B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5349240"/>
            <a:ext cx="598932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 i="0">
                <a:solidFill>
                  <a:srgbClr val="C9A96B"/>
                </a:solidFill>
                <a:latin typeface="Trebuchet MS"/>
              </a:rPr>
              <a:t>DATA  →  PREPROCESSING  →  K-MEANS  →  ELBOW / SILHOUETTE  →  PCA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5632704"/>
            <a:ext cx="598932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19" b="1" i="0">
                <a:solidFill>
                  <a:srgbClr val="BEB7A9"/>
                </a:solidFill>
                <a:latin typeface="Trebuchet MS"/>
              </a:rPr>
              <a:t>→  INTERPRETATION  →  CLASSIFICATION  →  COMPARISON  →  GRIDSEARCHCV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417320"/>
            <a:ext cx="3977639" cy="4590288"/>
          </a:xfrm>
          <a:prstGeom prst="roundRect">
            <a:avLst/>
          </a:prstGeom>
          <a:solidFill>
            <a:srgbClr val="232628"/>
          </a:solidFill>
          <a:ln w="8890">
            <a:solidFill>
              <a:srgbClr val="3B4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1810512"/>
            <a:ext cx="2560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 i="0">
                <a:solidFill>
                  <a:srgbClr val="C9A96B"/>
                </a:solidFill>
                <a:latin typeface="Trebuchet MS"/>
              </a:rPr>
              <a:t>CONNECT WITH 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157984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5F0E7"/>
                </a:solidFill>
                <a:latin typeface="Georgia"/>
              </a:rPr>
              <a:t>Mostafa Mohamed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606040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BEB7A9"/>
                </a:solidFill>
                <a:latin typeface="Trebuchet MS"/>
              </a:rPr>
              <a:t>Machine Learning Project</a:t>
            </a:r>
          </a:p>
        </p:txBody>
      </p:sp>
      <p:pic>
        <p:nvPicPr>
          <p:cNvPr id="23" name="Picture 22" descr="linkedin_qr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8458200" y="3090672"/>
            <a:ext cx="2331720" cy="2331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73568" y="5559552"/>
            <a:ext cx="33649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50" b="0" i="0">
                <a:solidFill>
                  <a:srgbClr val="BEB7A9"/>
                </a:solidFill>
                <a:latin typeface="Trebuchet MS"/>
              </a:rPr>
              <a:t>linkedin.com/in/mostafa-elsharkawi-30023b357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56248"/>
            <a:ext cx="51206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BEB7A9"/>
                </a:solidFill>
                <a:latin typeface="Trebuchet MS"/>
              </a:rPr>
              <a:t>MOSTAFA MOHAMED  /  MACHINE LEARNING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19672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BEB7A9"/>
                </a:solidFill>
                <a:latin typeface="Trebuchet MS"/>
              </a:rPr>
              <a:t>5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